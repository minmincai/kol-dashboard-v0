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61" r:id="rId2"/>
    <p:sldId id="263" r:id="rId3"/>
    <p:sldId id="262" r:id="rId4"/>
    <p:sldId id="265" r:id="rId5"/>
    <p:sldId id="274" r:id="rId6"/>
    <p:sldId id="275" r:id="rId7"/>
    <p:sldId id="270" r:id="rId8"/>
    <p:sldId id="264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pos="74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14" autoAdjust="0"/>
    <p:restoredTop sz="96327"/>
  </p:normalViewPr>
  <p:slideViewPr>
    <p:cSldViewPr snapToGrid="0" snapToObjects="1">
      <p:cViewPr varScale="1">
        <p:scale>
          <a:sx n="63" d="100"/>
          <a:sy n="63" d="100"/>
        </p:scale>
        <p:origin x="520" y="56"/>
      </p:cViewPr>
      <p:guideLst>
        <p:guide orient="horz" pos="2160"/>
        <p:guide pos="211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092734-B129-4575-B72B-EEC307C5AD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E61280D-8707-4032-9E39-2814101BA4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7945B-B53C-4C29-8638-FB6AF711186F}" type="datetimeFigureOut">
              <a:rPr lang="zh-TW" altLang="en-US" smtClean="0"/>
              <a:t>2024/11/8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7699F8B-4534-40F6-B959-F48C468295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387A22-1A36-4C36-8309-A3D954AAF5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DD0DD-57A0-4DF0-8C1A-C40EA54F11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342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D219E-5D5E-F544-A981-1561A301610D}" type="datetimeFigureOut">
              <a:rPr kumimoji="1" lang="zh-TW" altLang="en-US" smtClean="0"/>
              <a:pPr/>
              <a:t>2024/11/8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67204-A98B-7D44-A5FA-61BE866568EA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7100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8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投影片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10210232" y="640080"/>
            <a:ext cx="1664563" cy="2950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24C0F-0798-9646-B7EA-39A5A9A1FE82}" type="datetimeFigureOut">
              <a:rPr kumimoji="1" lang="zh-TW" altLang="en-US" smtClean="0"/>
              <a:pPr/>
              <a:t>2024/11/8</a:t>
            </a:fld>
            <a:endParaRPr kumimoji="1" lang="zh-TW" altLang="en-US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F2A66F86-AF9B-4174-8CB3-B8C31E36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035762"/>
            <a:ext cx="11449050" cy="792319"/>
          </a:xfrm>
          <a:prstGeom prst="rect">
            <a:avLst/>
          </a:prstGeom>
        </p:spPr>
        <p:txBody>
          <a:bodyPr/>
          <a:lstStyle>
            <a:lvl1pPr algn="ctr">
              <a:defRPr sz="54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pos="744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/>
          <a:p>
            <a:fld id="{5C878676-667B-7345-8540-6ADF75C84D17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05E1C50-88D0-C34F-BB09-2B07A9AC7D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AEDF1E4-5678-4527-9CA8-B68C81C612D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39691" y="423946"/>
            <a:ext cx="519843" cy="347395"/>
          </a:xfrm>
          <a:prstGeom prst="rect">
            <a:avLst/>
          </a:prstGeom>
        </p:spPr>
      </p:pic>
      <p:sp>
        <p:nvSpPr>
          <p:cNvPr id="10" name="標題 2">
            <a:extLst>
              <a:ext uri="{FF2B5EF4-FFF2-40B4-BE49-F238E27FC236}">
                <a16:creationId xmlns:a16="http://schemas.microsoft.com/office/drawing/2014/main" id="{995A6AE5-A0AE-46E4-AE0E-BB6E7D0A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7" y="401567"/>
            <a:ext cx="10984462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590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B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30F46BF-AE34-A84C-BBE9-6CBC49F21692}"/>
              </a:ext>
            </a:extLst>
          </p:cNvPr>
          <p:cNvCxnSpPr>
            <a:cxnSpLocks/>
          </p:cNvCxnSpPr>
          <p:nvPr userDrawn="1"/>
        </p:nvCxnSpPr>
        <p:spPr>
          <a:xfrm>
            <a:off x="856284" y="821222"/>
            <a:ext cx="1100122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786049E5-9626-4BE6-9CF6-CFAF73CC51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9691" y="423946"/>
            <a:ext cx="519843" cy="347395"/>
          </a:xfrm>
          <a:prstGeom prst="rect">
            <a:avLst/>
          </a:prstGeom>
        </p:spPr>
      </p:pic>
      <p:sp>
        <p:nvSpPr>
          <p:cNvPr id="12" name="標題 2">
            <a:extLst>
              <a:ext uri="{FF2B5EF4-FFF2-40B4-BE49-F238E27FC236}">
                <a16:creationId xmlns:a16="http://schemas.microsoft.com/office/drawing/2014/main" id="{E8CCFAB2-36D8-4EC5-8853-674235CE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7" y="401567"/>
            <a:ext cx="10984462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AF58090-BEBF-475E-A1FF-EDE6D193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/>
          <a:p>
            <a:fld id="{5C878676-667B-7345-8540-6ADF75C84D17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4485EA63-30FB-FCE2-F248-D9F8D4452E1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9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AF58090-BEBF-475E-A1FF-EDE6D193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/>
          <a:p>
            <a:fld id="{5C878676-667B-7345-8540-6ADF75C84D17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BE5689-F076-4EF7-831F-8C1FB0731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9691" y="423946"/>
            <a:ext cx="519843" cy="347395"/>
          </a:xfrm>
          <a:prstGeom prst="rect">
            <a:avLst/>
          </a:prstGeom>
        </p:spPr>
      </p:pic>
      <p:sp>
        <p:nvSpPr>
          <p:cNvPr id="8" name="標題 2">
            <a:extLst>
              <a:ext uri="{FF2B5EF4-FFF2-40B4-BE49-F238E27FC236}">
                <a16:creationId xmlns:a16="http://schemas.microsoft.com/office/drawing/2014/main" id="{9EE43F67-206A-4B9A-A008-5C516510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847" y="401567"/>
            <a:ext cx="10984462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9B387FB6-E86F-8050-3289-7F260E7534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53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D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30F46BF-AE34-A84C-BBE9-6CBC49F21692}"/>
              </a:ext>
            </a:extLst>
          </p:cNvPr>
          <p:cNvCxnSpPr>
            <a:cxnSpLocks/>
          </p:cNvCxnSpPr>
          <p:nvPr userDrawn="1"/>
        </p:nvCxnSpPr>
        <p:spPr>
          <a:xfrm>
            <a:off x="340900" y="821222"/>
            <a:ext cx="1152136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AF58090-BEBF-475E-A1FF-EDE6D193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/>
          <a:p>
            <a:fld id="{5C878676-667B-7345-8540-6ADF75C84D17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1B8456D7-2D21-4EA1-A6C4-5AF833DF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46" y="401567"/>
            <a:ext cx="11518116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549A837B-E70A-5837-85F0-5D3DA6B59A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29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C_標題及物件_D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30F46BF-AE34-A84C-BBE9-6CBC49F21692}"/>
              </a:ext>
            </a:extLst>
          </p:cNvPr>
          <p:cNvCxnSpPr>
            <a:cxnSpLocks/>
          </p:cNvCxnSpPr>
          <p:nvPr userDrawn="1"/>
        </p:nvCxnSpPr>
        <p:spPr>
          <a:xfrm>
            <a:off x="340900" y="821222"/>
            <a:ext cx="1152136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AF58090-BEBF-475E-A1FF-EDE6D193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/>
          <a:p>
            <a:fld id="{5C878676-667B-7345-8540-6ADF75C84D17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1B8456D7-2D21-4EA1-A6C4-5AF833DF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46" y="401567"/>
            <a:ext cx="11518116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549A837B-E70A-5837-85F0-5D3DA6B59A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D2B3FBA-A2C8-184E-406C-A91678F82A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6176" y="1302571"/>
            <a:ext cx="11540515" cy="491955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sz="2000" spc="120" baseline="0"/>
            </a:lvl1pPr>
            <a:lvl2pPr>
              <a:lnSpc>
                <a:spcPct val="120000"/>
              </a:lnSpc>
              <a:defRPr sz="1800" spc="120" baseline="0"/>
            </a:lvl2pPr>
            <a:lvl3pPr>
              <a:lnSpc>
                <a:spcPct val="120000"/>
              </a:lnSpc>
              <a:defRPr sz="1600" spc="120" baseline="0"/>
            </a:lvl3pPr>
            <a:lvl4pPr>
              <a:lnSpc>
                <a:spcPct val="120000"/>
              </a:lnSpc>
              <a:defRPr sz="1400" spc="120" baseline="0"/>
            </a:lvl4pPr>
            <a:lvl5pPr>
              <a:lnSpc>
                <a:spcPct val="120000"/>
              </a:lnSpc>
              <a:defRPr sz="1200" spc="120" baseline="0"/>
            </a:lvl5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66080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標題及物件_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30F46BF-AE34-A84C-BBE9-6CBC49F21692}"/>
              </a:ext>
            </a:extLst>
          </p:cNvPr>
          <p:cNvCxnSpPr>
            <a:cxnSpLocks/>
          </p:cNvCxnSpPr>
          <p:nvPr userDrawn="1"/>
        </p:nvCxnSpPr>
        <p:spPr>
          <a:xfrm>
            <a:off x="340900" y="821222"/>
            <a:ext cx="1152136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AF58090-BEBF-475E-A1FF-EDE6D193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/>
          <a:p>
            <a:fld id="{5C878676-667B-7345-8540-6ADF75C84D17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1B8456D7-2D21-4EA1-A6C4-5AF833DF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46" y="401567"/>
            <a:ext cx="11518116" cy="599599"/>
          </a:xfrm>
          <a:prstGeom prst="rect">
            <a:avLst/>
          </a:prstGeom>
        </p:spPr>
        <p:txBody>
          <a:bodyPr/>
          <a:lstStyle>
            <a:lvl1pPr algn="ctr"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441DC5E9-3B10-CFBC-F737-BF2EFA668B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4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_長標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三角形 4">
            <a:extLst>
              <a:ext uri="{FF2B5EF4-FFF2-40B4-BE49-F238E27FC236}">
                <a16:creationId xmlns:a16="http://schemas.microsoft.com/office/drawing/2014/main" id="{55F08B3E-6ECE-09E2-17FE-3F1A42D7CBB8}"/>
              </a:ext>
            </a:extLst>
          </p:cNvPr>
          <p:cNvSpPr/>
          <p:nvPr userDrawn="1"/>
        </p:nvSpPr>
        <p:spPr>
          <a:xfrm rot="5400000">
            <a:off x="1785790" y="2186403"/>
            <a:ext cx="976084" cy="1839310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49919" y="2696449"/>
            <a:ext cx="9222739" cy="1444127"/>
          </a:xfrm>
          <a:prstGeom prst="rect">
            <a:avLst/>
          </a:prstGeom>
        </p:spPr>
      </p:pic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1484593" y="2796654"/>
            <a:ext cx="9222739" cy="1276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三角形 9">
            <a:extLst>
              <a:ext uri="{FF2B5EF4-FFF2-40B4-BE49-F238E27FC236}">
                <a16:creationId xmlns:a16="http://schemas.microsoft.com/office/drawing/2014/main" id="{F761C3D3-4373-5A7B-0E45-7AB5EAC7E11E}"/>
              </a:ext>
            </a:extLst>
          </p:cNvPr>
          <p:cNvSpPr/>
          <p:nvPr userDrawn="1"/>
        </p:nvSpPr>
        <p:spPr>
          <a:xfrm rot="16200000">
            <a:off x="9845274" y="3225876"/>
            <a:ext cx="687784" cy="1296044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1C4431F6-070B-29A2-6DBB-919682527A4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3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_短標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三角形 2">
            <a:extLst>
              <a:ext uri="{FF2B5EF4-FFF2-40B4-BE49-F238E27FC236}">
                <a16:creationId xmlns:a16="http://schemas.microsoft.com/office/drawing/2014/main" id="{E3E16D6D-7BB5-EA28-E567-0E3AA440B9EF}"/>
              </a:ext>
            </a:extLst>
          </p:cNvPr>
          <p:cNvSpPr/>
          <p:nvPr userDrawn="1"/>
        </p:nvSpPr>
        <p:spPr>
          <a:xfrm rot="5400000">
            <a:off x="3172333" y="2240999"/>
            <a:ext cx="866589" cy="1632980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2057" y="2727897"/>
            <a:ext cx="6411433" cy="1444127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B302E5A-F003-4623-8CCB-A6F0C3D74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2016" y="2796654"/>
            <a:ext cx="6508174" cy="1276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三角形 3">
            <a:extLst>
              <a:ext uri="{FF2B5EF4-FFF2-40B4-BE49-F238E27FC236}">
                <a16:creationId xmlns:a16="http://schemas.microsoft.com/office/drawing/2014/main" id="{5843954F-C750-FC0F-1B4C-8D7F7AE5D2FE}"/>
              </a:ext>
            </a:extLst>
          </p:cNvPr>
          <p:cNvSpPr/>
          <p:nvPr userDrawn="1"/>
        </p:nvSpPr>
        <p:spPr>
          <a:xfrm rot="16200000">
            <a:off x="8295477" y="3109373"/>
            <a:ext cx="776418" cy="1463064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7">
            <a:extLst>
              <a:ext uri="{FF2B5EF4-FFF2-40B4-BE49-F238E27FC236}">
                <a16:creationId xmlns:a16="http://schemas.microsoft.com/office/drawing/2014/main" id="{14E352ED-3E9C-5200-EB95-E45853FD829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31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_短標B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三角形 17">
            <a:extLst>
              <a:ext uri="{FF2B5EF4-FFF2-40B4-BE49-F238E27FC236}">
                <a16:creationId xmlns:a16="http://schemas.microsoft.com/office/drawing/2014/main" id="{18153046-A427-8FA4-32C8-9D305D9BB58D}"/>
              </a:ext>
            </a:extLst>
          </p:cNvPr>
          <p:cNvSpPr/>
          <p:nvPr userDrawn="1"/>
        </p:nvSpPr>
        <p:spPr>
          <a:xfrm rot="10800000">
            <a:off x="8711723" y="2160063"/>
            <a:ext cx="698582" cy="1964107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三角形 16">
            <a:extLst>
              <a:ext uri="{FF2B5EF4-FFF2-40B4-BE49-F238E27FC236}">
                <a16:creationId xmlns:a16="http://schemas.microsoft.com/office/drawing/2014/main" id="{9F1DBF9D-DE47-D44C-E3CE-B2276EC0B583}"/>
              </a:ext>
            </a:extLst>
          </p:cNvPr>
          <p:cNvSpPr/>
          <p:nvPr userDrawn="1"/>
        </p:nvSpPr>
        <p:spPr>
          <a:xfrm rot="5400000">
            <a:off x="3172333" y="2411477"/>
            <a:ext cx="866589" cy="1632980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873368-C34E-4C28-B7AD-2F62B1B105C6}"/>
              </a:ext>
            </a:extLst>
          </p:cNvPr>
          <p:cNvSpPr/>
          <p:nvPr userDrawn="1"/>
        </p:nvSpPr>
        <p:spPr>
          <a:xfrm>
            <a:off x="3828017" y="2160064"/>
            <a:ext cx="5388502" cy="736222"/>
          </a:xfrm>
          <a:prstGeom prst="rect">
            <a:avLst/>
          </a:prstGeom>
          <a:solidFill>
            <a:srgbClr val="333333"/>
          </a:solidFill>
          <a:ln w="952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F7DB12-974D-29BB-742B-E04BCF7A7846}"/>
              </a:ext>
            </a:extLst>
          </p:cNvPr>
          <p:cNvSpPr/>
          <p:nvPr userDrawn="1"/>
        </p:nvSpPr>
        <p:spPr>
          <a:xfrm>
            <a:off x="3914988" y="2256548"/>
            <a:ext cx="5388502" cy="543254"/>
          </a:xfrm>
          <a:prstGeom prst="rect">
            <a:avLst/>
          </a:prstGeom>
          <a:solidFill>
            <a:schemeClr val="bg1"/>
          </a:solidFill>
          <a:ln w="952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2" name="文字版面配置區 22">
            <a:extLst>
              <a:ext uri="{FF2B5EF4-FFF2-40B4-BE49-F238E27FC236}">
                <a16:creationId xmlns:a16="http://schemas.microsoft.com/office/drawing/2014/main" id="{45231EA0-BD17-FCFA-BB4B-5DE5B27B4A76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3918269" y="2290863"/>
            <a:ext cx="5381676" cy="460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0"/>
            </a:lvl1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4584E00-97F6-7817-0325-006E1B874A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8932" y="2882446"/>
            <a:ext cx="6411433" cy="1444127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40F8918C-EF3C-E1EE-6FCD-F27299DF42A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896744" y="3064877"/>
            <a:ext cx="6403200" cy="1074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b="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F4463E3D-3372-0EDC-CB60-5FFB62345274}"/>
              </a:ext>
            </a:extLst>
          </p:cNvPr>
          <p:cNvSpPr/>
          <p:nvPr userDrawn="1"/>
        </p:nvSpPr>
        <p:spPr>
          <a:xfrm rot="16200000">
            <a:off x="8518841" y="3521020"/>
            <a:ext cx="618132" cy="1164795"/>
          </a:xfrm>
          <a:prstGeom prst="triangle">
            <a:avLst>
              <a:gd name="adj" fmla="val 0"/>
            </a:avLst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4" name="圖片 7">
            <a:extLst>
              <a:ext uri="{FF2B5EF4-FFF2-40B4-BE49-F238E27FC236}">
                <a16:creationId xmlns:a16="http://schemas.microsoft.com/office/drawing/2014/main" id="{01F1AE20-97CC-ED6B-6344-29649CC0DF2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7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_長標B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F96DA1A-4188-4962-A9AC-A82DBD4F55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9691" y="3285391"/>
            <a:ext cx="519843" cy="347395"/>
          </a:xfrm>
          <a:prstGeom prst="rect">
            <a:avLst/>
          </a:prstGeo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FCDA2408-B916-A8BB-F79E-0D9818AC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547" y="3251014"/>
            <a:ext cx="10971762" cy="59959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pic>
        <p:nvPicPr>
          <p:cNvPr id="3" name="圖片 7">
            <a:extLst>
              <a:ext uri="{FF2B5EF4-FFF2-40B4-BE49-F238E27FC236}">
                <a16:creationId xmlns:a16="http://schemas.microsoft.com/office/drawing/2014/main" id="{172A22A1-1369-0479-804B-D3D3B13811D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83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章節標題及圖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C289160-58AC-3974-1A42-C0E233262E63}"/>
              </a:ext>
            </a:extLst>
          </p:cNvPr>
          <p:cNvSpPr/>
          <p:nvPr userDrawn="1"/>
        </p:nvSpPr>
        <p:spPr>
          <a:xfrm>
            <a:off x="5321298" y="-1"/>
            <a:ext cx="6870701" cy="68707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AF58090-BEBF-475E-A1FF-EDE6D193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492876"/>
            <a:ext cx="909411" cy="365125"/>
          </a:xfrm>
          <a:prstGeom prst="rect">
            <a:avLst/>
          </a:prstGeom>
        </p:spPr>
        <p:txBody>
          <a:bodyPr/>
          <a:lstStyle/>
          <a:p>
            <a:fld id="{5C878676-667B-7345-8540-6ADF75C84D17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標題 2">
            <a:extLst>
              <a:ext uri="{FF2B5EF4-FFF2-40B4-BE49-F238E27FC236}">
                <a16:creationId xmlns:a16="http://schemas.microsoft.com/office/drawing/2014/main" id="{9EE43F67-206A-4B9A-A008-5C516510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06" y="2811439"/>
            <a:ext cx="4555053" cy="592161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F84A8935-ABC5-D955-9A90-D612C7FC10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4706" y="3428930"/>
            <a:ext cx="4555444" cy="1300162"/>
          </a:xfrm>
          <a:prstGeom prst="rect">
            <a:avLst/>
          </a:prstGeom>
        </p:spPr>
        <p:txBody>
          <a:bodyPr/>
          <a:lstStyle>
            <a:lvl1pPr algn="ctr">
              <a:lnSpc>
                <a:spcPts val="2400"/>
              </a:lnSpc>
              <a:defRPr sz="1600"/>
            </a:lvl1pPr>
            <a:lvl2pPr algn="ctr">
              <a:lnSpc>
                <a:spcPts val="2400"/>
              </a:lnSpc>
              <a:defRPr sz="1600"/>
            </a:lvl2pPr>
            <a:lvl3pPr algn="ctr">
              <a:lnSpc>
                <a:spcPts val="2400"/>
              </a:lnSpc>
              <a:defRPr sz="1600"/>
            </a:lvl3pPr>
            <a:lvl4pPr algn="ctr">
              <a:lnSpc>
                <a:spcPts val="2400"/>
              </a:lnSpc>
              <a:defRPr sz="1600"/>
            </a:lvl4pPr>
            <a:lvl5pPr algn="ctr">
              <a:lnSpc>
                <a:spcPts val="2400"/>
              </a:lnSpc>
              <a:defRPr sz="1600"/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699CE81-E5B1-D80B-23FD-3C61125C3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9691" y="423946"/>
            <a:ext cx="519843" cy="347395"/>
          </a:xfrm>
          <a:prstGeom prst="rect">
            <a:avLst/>
          </a:prstGeom>
        </p:spPr>
      </p:pic>
      <p:pic>
        <p:nvPicPr>
          <p:cNvPr id="4" name="圖片 7">
            <a:extLst>
              <a:ext uri="{FF2B5EF4-FFF2-40B4-BE49-F238E27FC236}">
                <a16:creationId xmlns:a16="http://schemas.microsoft.com/office/drawing/2014/main" id="{6395E393-8FB7-A5BF-1B84-77471A2634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79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C_尾頁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7">
            <a:extLst>
              <a:ext uri="{FF2B5EF4-FFF2-40B4-BE49-F238E27FC236}">
                <a16:creationId xmlns:a16="http://schemas.microsoft.com/office/drawing/2014/main" id="{AE25BD37-5211-F7F0-5205-78C180F78D0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074308" y="6463309"/>
            <a:ext cx="4003224" cy="31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3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21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  <p:sldLayoutId id="2147483672" r:id="rId4"/>
    <p:sldLayoutId id="2147483673" r:id="rId5"/>
    <p:sldLayoutId id="2147483677" r:id="rId6"/>
    <p:sldLayoutId id="2147483675" r:id="rId7"/>
    <p:sldLayoutId id="2147483669" r:id="rId8"/>
    <p:sldLayoutId id="2147483671" r:id="rId9"/>
    <p:sldLayoutId id="2147483676" r:id="rId10"/>
    <p:sldLayoutId id="2147483668" r:id="rId11"/>
    <p:sldLayoutId id="2147483674" r:id="rId12"/>
    <p:sldLayoutId id="21474836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reel/DBxnAKSOls_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stagram.com/reel/DBxnAKSOls_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C3EF453F-4AF7-A94C-86A0-A058D40A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2028671"/>
            <a:ext cx="11449050" cy="9675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sz="3600" dirty="0">
                <a:latin typeface="+mj-ea"/>
              </a:rPr>
              <a:t>Panasonic</a:t>
            </a:r>
            <a:r>
              <a:rPr lang="zh-TW" altLang="en-US" sz="3600" dirty="0">
                <a:latin typeface="+mj-ea"/>
              </a:rPr>
              <a:t>電鬍刀</a:t>
            </a:r>
            <a:r>
              <a:rPr lang="en-US" altLang="zh-TW" sz="3600" dirty="0">
                <a:latin typeface="+mj-ea"/>
              </a:rPr>
              <a:t>_</a:t>
            </a:r>
            <a:r>
              <a:rPr lang="zh-TW" altLang="en-US" sz="3600" dirty="0">
                <a:latin typeface="+mj-ea"/>
              </a:rPr>
              <a:t>雙</a:t>
            </a:r>
            <a:r>
              <a:rPr lang="en-US" altLang="zh-TW" sz="3600" dirty="0">
                <a:latin typeface="+mj-ea"/>
              </a:rPr>
              <a:t>11</a:t>
            </a:r>
            <a:r>
              <a:rPr lang="zh-TW" altLang="en-US" sz="3600" dirty="0">
                <a:latin typeface="+mj-ea"/>
              </a:rPr>
              <a:t>檔期</a:t>
            </a:r>
            <a:r>
              <a:rPr lang="en-US" altLang="zh-TW" sz="3600" dirty="0">
                <a:latin typeface="+mj-ea"/>
              </a:rPr>
              <a:t>(ES-PV6A)</a:t>
            </a:r>
            <a:br>
              <a:rPr lang="zh-TW" altLang="en-US" sz="3600" dirty="0"/>
            </a:br>
            <a:endParaRPr lang="zh-TW" altLang="en-US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6113C-4962-1A5E-BA23-B359BA3EA261}"/>
              </a:ext>
            </a:extLst>
          </p:cNvPr>
          <p:cNvSpPr txBox="1">
            <a:spLocks/>
          </p:cNvSpPr>
          <p:nvPr/>
        </p:nvSpPr>
        <p:spPr>
          <a:xfrm>
            <a:off x="5110199" y="2996182"/>
            <a:ext cx="1971600" cy="672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結案報告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202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4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.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11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.</a:t>
            </a:r>
            <a:r>
              <a:rPr lang="en-US" altLang="zh-TW" sz="1400" b="1" dirty="0">
                <a:solidFill>
                  <a:schemeClr val="bg1">
                    <a:lumMod val="50000"/>
                  </a:schemeClr>
                </a:solidFill>
                <a:latin typeface="+mj-ea"/>
                <a:cs typeface="Helvetica"/>
              </a:rPr>
              <a:t>08</a:t>
            </a:r>
            <a:endParaRPr lang="en-US" sz="1400" b="1" dirty="0">
              <a:solidFill>
                <a:schemeClr val="bg1">
                  <a:lumMod val="50000"/>
                </a:schemeClr>
              </a:solidFill>
              <a:latin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7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CF2338-D90A-AC8B-0A1C-90C7D795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KOC</a:t>
            </a:r>
            <a:r>
              <a:rPr lang="zh-TW" altLang="en-US" dirty="0"/>
              <a:t>成效數據</a:t>
            </a:r>
          </a:p>
        </p:txBody>
      </p:sp>
    </p:spTree>
    <p:extLst>
      <p:ext uri="{BB962C8B-B14F-4D97-AF65-F5344CB8AC3E}">
        <p14:creationId xmlns:p14="http://schemas.microsoft.com/office/powerpoint/2010/main" val="619493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EBEEB-6ED6-CD3E-CA12-584D5584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上刊截圖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F913559-66AC-F7B2-8973-7B8440E94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" y="1967203"/>
            <a:ext cx="5008880" cy="362079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438AA44-9CA1-E229-DE09-BDBA9BF57E6F}"/>
              </a:ext>
            </a:extLst>
          </p:cNvPr>
          <p:cNvSpPr txBox="1"/>
          <p:nvPr/>
        </p:nvSpPr>
        <p:spPr>
          <a:xfrm>
            <a:off x="3089968" y="1412615"/>
            <a:ext cx="1071216" cy="375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400" b="1" dirty="0">
                <a:latin typeface="+mj-ea"/>
                <a:ea typeface="+mj-ea"/>
                <a:hlinkClick r:id="rId3"/>
              </a:rPr>
              <a:t>IG</a:t>
            </a:r>
            <a:r>
              <a:rPr kumimoji="1" lang="zh-TW" altLang="en-US" sz="1400" b="1" dirty="0">
                <a:latin typeface="+mj-ea"/>
                <a:ea typeface="+mj-ea"/>
                <a:hlinkClick r:id="rId3"/>
              </a:rPr>
              <a:t> </a:t>
            </a:r>
            <a:r>
              <a:rPr kumimoji="1" lang="en-US" altLang="zh-TW" sz="1400" b="1" dirty="0">
                <a:latin typeface="+mj-ea"/>
                <a:ea typeface="+mj-ea"/>
                <a:hlinkClick r:id="rId3"/>
              </a:rPr>
              <a:t>Reels</a:t>
            </a:r>
            <a:endParaRPr kumimoji="1" lang="en" altLang="zh-TW" sz="1400" b="1" dirty="0">
              <a:latin typeface="+mj-ea"/>
              <a:ea typeface="+mj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F172D7-5586-D2CD-D653-192C12591B1E}"/>
              </a:ext>
            </a:extLst>
          </p:cNvPr>
          <p:cNvSpPr/>
          <p:nvPr/>
        </p:nvSpPr>
        <p:spPr>
          <a:xfrm>
            <a:off x="1087120" y="1513384"/>
            <a:ext cx="2002848" cy="2625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 </a:t>
            </a:r>
            <a:r>
              <a:rPr lang="en-US" altLang="zh-TW" sz="1400" b="1" dirty="0">
                <a:latin typeface="+mj-ea"/>
                <a:ea typeface="+mj-ea"/>
              </a:rPr>
              <a:t>Reels</a:t>
            </a:r>
            <a:r>
              <a:rPr lang="zh-TW" altLang="en-US" sz="1400" b="1" dirty="0">
                <a:latin typeface="+mj-ea"/>
                <a:ea typeface="+mj-ea"/>
              </a:rPr>
              <a:t>上刊截圖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33E532-35E5-3A6F-0A51-22BDA6007F55}"/>
              </a:ext>
            </a:extLst>
          </p:cNvPr>
          <p:cNvSpPr/>
          <p:nvPr/>
        </p:nvSpPr>
        <p:spPr>
          <a:xfrm>
            <a:off x="8030818" y="1469298"/>
            <a:ext cx="1885342" cy="2625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 限動截圖</a:t>
            </a:r>
          </a:p>
        </p:txBody>
      </p:sp>
      <p:pic>
        <p:nvPicPr>
          <p:cNvPr id="10" name="圖片 9" descr="一張含有 文字, 人員, 螢幕擷取畫面, 多媒體軟體 的圖片&#10;&#10;自動產生的描述">
            <a:extLst>
              <a:ext uri="{FF2B5EF4-FFF2-40B4-BE49-F238E27FC236}">
                <a16:creationId xmlns:a16="http://schemas.microsoft.com/office/drawing/2014/main" id="{247977A9-86D0-6CEA-62CF-13B2EEB5E2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31"/>
          <a:stretch/>
        </p:blipFill>
        <p:spPr>
          <a:xfrm>
            <a:off x="8063468" y="1967202"/>
            <a:ext cx="1720612" cy="362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2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4E7B5089-392B-5AD4-1434-14FA2DCEC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成效數據截圖</a:t>
            </a:r>
            <a:r>
              <a:rPr lang="en-US" altLang="zh-TW" dirty="0"/>
              <a:t>-Reels</a:t>
            </a:r>
            <a:endParaRPr lang="zh-TW" altLang="en-US" dirty="0"/>
          </a:p>
        </p:txBody>
      </p:sp>
      <p:pic>
        <p:nvPicPr>
          <p:cNvPr id="4" name="圖片 3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CEF5CA02-54C9-BB1F-F5F1-A6C82883DA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55" b="10815"/>
          <a:stretch/>
        </p:blipFill>
        <p:spPr>
          <a:xfrm>
            <a:off x="3420624" y="1463773"/>
            <a:ext cx="2478630" cy="4472736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6" name="圖片 5" descr="一張含有 文字, 螢幕擷取畫面, 人的臉孔 的圖片&#10;&#10;自動產生的描述">
            <a:extLst>
              <a:ext uri="{FF2B5EF4-FFF2-40B4-BE49-F238E27FC236}">
                <a16:creationId xmlns:a16="http://schemas.microsoft.com/office/drawing/2014/main" id="{D2C80624-8F39-DCF4-9B85-44445D93C5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30" b="9481"/>
          <a:stretch/>
        </p:blipFill>
        <p:spPr>
          <a:xfrm>
            <a:off x="744688" y="1463773"/>
            <a:ext cx="2455459" cy="4472736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8" name="圖片 7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7F67C020-C5ED-AE0F-4E61-F2F8A5DE49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29" b="9926"/>
          <a:stretch/>
        </p:blipFill>
        <p:spPr>
          <a:xfrm>
            <a:off x="6119731" y="1463773"/>
            <a:ext cx="2514391" cy="4472736"/>
          </a:xfrm>
          <a:prstGeom prst="rect">
            <a:avLst/>
          </a:prstGeom>
          <a:ln>
            <a:solidFill>
              <a:srgbClr val="333333"/>
            </a:solidFill>
          </a:ln>
        </p:spPr>
      </p:pic>
      <p:pic>
        <p:nvPicPr>
          <p:cNvPr id="10" name="圖片 9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506489DB-66CE-490C-ED6E-CB5207EC9C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30" b="12444"/>
          <a:stretch/>
        </p:blipFill>
        <p:spPr>
          <a:xfrm>
            <a:off x="8854600" y="1463773"/>
            <a:ext cx="2593920" cy="4472736"/>
          </a:xfrm>
          <a:prstGeom prst="rect">
            <a:avLst/>
          </a:prstGeom>
          <a:ln>
            <a:solidFill>
              <a:srgbClr val="333333"/>
            </a:solidFill>
          </a:ln>
        </p:spPr>
      </p:pic>
    </p:spTree>
    <p:extLst>
      <p:ext uri="{BB962C8B-B14F-4D97-AF65-F5344CB8AC3E}">
        <p14:creationId xmlns:p14="http://schemas.microsoft.com/office/powerpoint/2010/main" val="232752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5399-8D4F-08DA-83CA-464F6257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4A59ECE-2325-8DEA-E98E-EE384AAAB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成效數據截圖</a:t>
            </a:r>
            <a:r>
              <a:rPr lang="en-US" altLang="zh-TW" dirty="0"/>
              <a:t>-</a:t>
            </a:r>
            <a:r>
              <a:rPr lang="zh-TW" altLang="en-US" dirty="0"/>
              <a:t>限時動態</a:t>
            </a:r>
          </a:p>
        </p:txBody>
      </p:sp>
      <p:pic>
        <p:nvPicPr>
          <p:cNvPr id="4" name="圖片 3" descr="一張含有 文字, 螢幕擷取畫面, 軟體, 多媒體軟體 的圖片&#10;&#10;自動產生的描述">
            <a:extLst>
              <a:ext uri="{FF2B5EF4-FFF2-40B4-BE49-F238E27FC236}">
                <a16:creationId xmlns:a16="http://schemas.microsoft.com/office/drawing/2014/main" id="{1A91D404-F0B9-0AD1-753E-50DD6152F0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56"/>
          <a:stretch/>
        </p:blipFill>
        <p:spPr>
          <a:xfrm>
            <a:off x="8045922" y="1290161"/>
            <a:ext cx="2334664" cy="4765040"/>
          </a:xfrm>
          <a:prstGeom prst="rect">
            <a:avLst/>
          </a:prstGeom>
        </p:spPr>
      </p:pic>
      <p:pic>
        <p:nvPicPr>
          <p:cNvPr id="6" name="圖片 5" descr="一張含有 文字, 螢幕擷取畫面, 軟體, 多媒體軟體 的圖片&#10;&#10;自動產生的描述">
            <a:extLst>
              <a:ext uri="{FF2B5EF4-FFF2-40B4-BE49-F238E27FC236}">
                <a16:creationId xmlns:a16="http://schemas.microsoft.com/office/drawing/2014/main" id="{41D07470-04C5-F655-D3D5-20EF447BDA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59"/>
          <a:stretch/>
        </p:blipFill>
        <p:spPr>
          <a:xfrm>
            <a:off x="1811414" y="1290161"/>
            <a:ext cx="2370003" cy="4765040"/>
          </a:xfrm>
          <a:prstGeom prst="rect">
            <a:avLst/>
          </a:prstGeom>
        </p:spPr>
      </p:pic>
      <p:pic>
        <p:nvPicPr>
          <p:cNvPr id="8" name="圖片 7" descr="一張含有 文字, 螢幕擷取畫面, 軟體, 多媒體 的圖片&#10;&#10;自動產生的描述">
            <a:extLst>
              <a:ext uri="{FF2B5EF4-FFF2-40B4-BE49-F238E27FC236}">
                <a16:creationId xmlns:a16="http://schemas.microsoft.com/office/drawing/2014/main" id="{B62F0C08-39F4-B76B-A0DA-DD765E16AA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30"/>
          <a:stretch/>
        </p:blipFill>
        <p:spPr>
          <a:xfrm>
            <a:off x="4949131" y="1290161"/>
            <a:ext cx="2329077" cy="476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483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28FA8-CA4D-B399-93B3-9D691B22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C2227C0-49A5-DE29-8BE9-5C454D19C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成效總覽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9656A67-D916-9814-CC26-4C47F997F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24473"/>
              </p:ext>
            </p:extLst>
          </p:nvPr>
        </p:nvGraphicFramePr>
        <p:xfrm>
          <a:off x="1007961" y="1667871"/>
          <a:ext cx="10176075" cy="173106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7831">
                  <a:extLst>
                    <a:ext uri="{9D8B030D-6E8A-4147-A177-3AD203B41FA5}">
                      <a16:colId xmlns:a16="http://schemas.microsoft.com/office/drawing/2014/main" val="2936426004"/>
                    </a:ext>
                  </a:extLst>
                </a:gridCol>
                <a:gridCol w="837380">
                  <a:extLst>
                    <a:ext uri="{9D8B030D-6E8A-4147-A177-3AD203B41FA5}">
                      <a16:colId xmlns:a16="http://schemas.microsoft.com/office/drawing/2014/main" val="2446824499"/>
                    </a:ext>
                  </a:extLst>
                </a:gridCol>
                <a:gridCol w="798687">
                  <a:extLst>
                    <a:ext uri="{9D8B030D-6E8A-4147-A177-3AD203B41FA5}">
                      <a16:colId xmlns:a16="http://schemas.microsoft.com/office/drawing/2014/main" val="953600421"/>
                    </a:ext>
                  </a:extLst>
                </a:gridCol>
                <a:gridCol w="971017">
                  <a:extLst>
                    <a:ext uri="{9D8B030D-6E8A-4147-A177-3AD203B41FA5}">
                      <a16:colId xmlns:a16="http://schemas.microsoft.com/office/drawing/2014/main" val="2711311535"/>
                    </a:ext>
                  </a:extLst>
                </a:gridCol>
                <a:gridCol w="953025">
                  <a:extLst>
                    <a:ext uri="{9D8B030D-6E8A-4147-A177-3AD203B41FA5}">
                      <a16:colId xmlns:a16="http://schemas.microsoft.com/office/drawing/2014/main" val="2285866955"/>
                    </a:ext>
                  </a:extLst>
                </a:gridCol>
                <a:gridCol w="754258">
                  <a:extLst>
                    <a:ext uri="{9D8B030D-6E8A-4147-A177-3AD203B41FA5}">
                      <a16:colId xmlns:a16="http://schemas.microsoft.com/office/drawing/2014/main" val="2041104189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1622608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56073799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3745779687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20231888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490404457"/>
                    </a:ext>
                  </a:extLst>
                </a:gridCol>
                <a:gridCol w="1105317">
                  <a:extLst>
                    <a:ext uri="{9D8B030D-6E8A-4147-A177-3AD203B41FA5}">
                      <a16:colId xmlns:a16="http://schemas.microsoft.com/office/drawing/2014/main" val="190608745"/>
                    </a:ext>
                  </a:extLst>
                </a:gridCol>
              </a:tblGrid>
              <a:tr h="8016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KOC</a:t>
                      </a:r>
                      <a:endParaRPr lang="en-US" altLang="en-US" sz="1100" b="1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平台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上線日期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連結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粉絲數</a:t>
                      </a:r>
                      <a:endParaRPr lang="en-US" altLang="zh-TW" sz="11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按讚數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留言數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分享數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收藏數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互動率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觸及人數 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播放次數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56141"/>
                  </a:ext>
                </a:extLst>
              </a:tr>
              <a:tr h="9294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Erik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IG</a:t>
                      </a:r>
                      <a:r>
                        <a:rPr lang="zh-TW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Reels</a:t>
                      </a:r>
                      <a:endParaRPr lang="zh-TW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10/31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hlinkClick r:id="rId2"/>
                        </a:rPr>
                        <a:t>IG</a:t>
                      </a:r>
                      <a:r>
                        <a:rPr lang="zh-TW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hlinkClick r:id="rId2"/>
                        </a:rPr>
                        <a:t> </a:t>
                      </a:r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hlinkClick r:id="rId2"/>
                        </a:rPr>
                        <a:t>Reels</a:t>
                      </a:r>
                      <a:endParaRPr lang="zh-TW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3.7</a:t>
                      </a:r>
                      <a:r>
                        <a:rPr lang="zh-TW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萬</a:t>
                      </a:r>
                      <a:endParaRPr lang="en-US" altLang="zh-TW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624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27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52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33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1.98%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7,560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13,218</a:t>
                      </a:r>
                    </a:p>
                  </a:txBody>
                  <a:tcPr marL="6714" marR="6714" marT="4476" marB="4476" anchor="ctr"/>
                </a:tc>
                <a:extLst>
                  <a:ext uri="{0D108BD9-81ED-4DB2-BD59-A6C34878D82A}">
                    <a16:rowId xmlns:a16="http://schemas.microsoft.com/office/drawing/2014/main" val="400299412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721DBBFB-6AC7-E0E9-6670-C7B090E0DF9F}"/>
              </a:ext>
            </a:extLst>
          </p:cNvPr>
          <p:cNvSpPr txBox="1"/>
          <p:nvPr/>
        </p:nvSpPr>
        <p:spPr>
          <a:xfrm>
            <a:off x="9141554" y="502232"/>
            <a:ext cx="27126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>
                <a:latin typeface="+mn-ea"/>
              </a:rPr>
              <a:t>統計時間：</a:t>
            </a:r>
            <a:r>
              <a:rPr lang="en-US" altLang="zh-TW" sz="1200" dirty="0">
                <a:latin typeface="+mn-ea"/>
              </a:rPr>
              <a:t>2024/10/31-2024/11/08</a:t>
            </a:r>
            <a:endParaRPr lang="zh-TW" altLang="en-US" sz="1200" dirty="0">
              <a:latin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7346C9-BAC8-4883-D2C0-642224B5C9EF}"/>
              </a:ext>
            </a:extLst>
          </p:cNvPr>
          <p:cNvSpPr/>
          <p:nvPr/>
        </p:nvSpPr>
        <p:spPr>
          <a:xfrm>
            <a:off x="1007961" y="1244144"/>
            <a:ext cx="1361440" cy="2625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 </a:t>
            </a:r>
            <a:r>
              <a:rPr lang="en-US" altLang="zh-TW" sz="1400" b="1" dirty="0">
                <a:latin typeface="+mj-ea"/>
                <a:ea typeface="+mj-ea"/>
              </a:rPr>
              <a:t>Reels</a:t>
            </a:r>
            <a:endParaRPr lang="zh-TW" altLang="en-US" sz="1400" b="1" dirty="0"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9C8BE2-2DAF-DF5E-C641-9951FB6E4783}"/>
              </a:ext>
            </a:extLst>
          </p:cNvPr>
          <p:cNvSpPr/>
          <p:nvPr/>
        </p:nvSpPr>
        <p:spPr>
          <a:xfrm>
            <a:off x="1007961" y="3840992"/>
            <a:ext cx="1361440" cy="2625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latin typeface="+mj-ea"/>
                <a:ea typeface="+mj-ea"/>
              </a:rPr>
              <a:t>IG</a:t>
            </a:r>
            <a:r>
              <a:rPr lang="zh-TW" altLang="en-US" sz="1400" b="1" dirty="0">
                <a:latin typeface="+mj-ea"/>
                <a:ea typeface="+mj-ea"/>
              </a:rPr>
              <a:t> 限動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267C89A-5CC5-794A-F41D-1BD0DF9F6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328924"/>
              </p:ext>
            </p:extLst>
          </p:nvPr>
        </p:nvGraphicFramePr>
        <p:xfrm>
          <a:off x="1007961" y="4324597"/>
          <a:ext cx="10176073" cy="173106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2223">
                  <a:extLst>
                    <a:ext uri="{9D8B030D-6E8A-4147-A177-3AD203B41FA5}">
                      <a16:colId xmlns:a16="http://schemas.microsoft.com/office/drawing/2014/main" val="2936426004"/>
                    </a:ext>
                  </a:extLst>
                </a:gridCol>
                <a:gridCol w="857061">
                  <a:extLst>
                    <a:ext uri="{9D8B030D-6E8A-4147-A177-3AD203B41FA5}">
                      <a16:colId xmlns:a16="http://schemas.microsoft.com/office/drawing/2014/main" val="2446824499"/>
                    </a:ext>
                  </a:extLst>
                </a:gridCol>
                <a:gridCol w="817459">
                  <a:extLst>
                    <a:ext uri="{9D8B030D-6E8A-4147-A177-3AD203B41FA5}">
                      <a16:colId xmlns:a16="http://schemas.microsoft.com/office/drawing/2014/main" val="953600421"/>
                    </a:ext>
                  </a:extLst>
                </a:gridCol>
                <a:gridCol w="993839">
                  <a:extLst>
                    <a:ext uri="{9D8B030D-6E8A-4147-A177-3AD203B41FA5}">
                      <a16:colId xmlns:a16="http://schemas.microsoft.com/office/drawing/2014/main" val="2711311535"/>
                    </a:ext>
                  </a:extLst>
                </a:gridCol>
                <a:gridCol w="890097">
                  <a:extLst>
                    <a:ext uri="{9D8B030D-6E8A-4147-A177-3AD203B41FA5}">
                      <a16:colId xmlns:a16="http://schemas.microsoft.com/office/drawing/2014/main" val="2285866955"/>
                    </a:ext>
                  </a:extLst>
                </a:gridCol>
                <a:gridCol w="772160">
                  <a:extLst>
                    <a:ext uri="{9D8B030D-6E8A-4147-A177-3AD203B41FA5}">
                      <a16:colId xmlns:a16="http://schemas.microsoft.com/office/drawing/2014/main" val="2041104189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381622608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560737996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3745779687"/>
                    </a:ext>
                  </a:extLst>
                </a:gridCol>
                <a:gridCol w="1107440">
                  <a:extLst>
                    <a:ext uri="{9D8B030D-6E8A-4147-A177-3AD203B41FA5}">
                      <a16:colId xmlns:a16="http://schemas.microsoft.com/office/drawing/2014/main" val="490404457"/>
                    </a:ext>
                  </a:extLst>
                </a:gridCol>
                <a:gridCol w="1095154">
                  <a:extLst>
                    <a:ext uri="{9D8B030D-6E8A-4147-A177-3AD203B41FA5}">
                      <a16:colId xmlns:a16="http://schemas.microsoft.com/office/drawing/2014/main" val="190608745"/>
                    </a:ext>
                  </a:extLst>
                </a:gridCol>
              </a:tblGrid>
              <a:tr h="8016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b="1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KOC</a:t>
                      </a:r>
                      <a:endParaRPr lang="en-US" altLang="en-US" sz="1100" b="1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平台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上線日期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連結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粉絲數</a:t>
                      </a:r>
                      <a:endParaRPr lang="en-US" altLang="zh-TW" sz="11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觀看數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按讚數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回覆次數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分享次數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1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連結點擊次數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1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觸及人數 </a:t>
                      </a:r>
                    </a:p>
                  </a:txBody>
                  <a:tcPr marL="6714" marR="6714" marT="4476" marB="4476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56141"/>
                  </a:ext>
                </a:extLst>
              </a:tr>
              <a:tr h="9294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Erik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IG</a:t>
                      </a:r>
                      <a:endParaRPr lang="zh-TW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10/31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zh-TW" altLang="en-US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3.7</a:t>
                      </a:r>
                      <a:r>
                        <a:rPr lang="zh-TW" altLang="en-US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萬</a:t>
                      </a:r>
                      <a:endParaRPr lang="en-US" altLang="zh-TW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3,575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116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27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34</a:t>
                      </a:r>
                    </a:p>
                  </a:txBody>
                  <a:tcPr marL="6714" marR="6714" marT="4476" marB="4476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3,370</a:t>
                      </a:r>
                    </a:p>
                  </a:txBody>
                  <a:tcPr marL="6714" marR="6714" marT="4476" marB="4476" anchor="ctr"/>
                </a:tc>
                <a:extLst>
                  <a:ext uri="{0D108BD9-81ED-4DB2-BD59-A6C34878D82A}">
                    <a16:rowId xmlns:a16="http://schemas.microsoft.com/office/drawing/2014/main" val="4002994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879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6935415-D71E-11F4-9A15-CD3A8674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15" y="2689519"/>
            <a:ext cx="4555053" cy="592161"/>
          </a:xfrm>
        </p:spPr>
        <p:txBody>
          <a:bodyPr/>
          <a:lstStyle/>
          <a:p>
            <a:pPr algn="ctr"/>
            <a:r>
              <a:rPr lang="zh-TW" altLang="en-US" sz="3600" dirty="0"/>
              <a:t>合作心得</a:t>
            </a:r>
            <a:r>
              <a:rPr lang="en-US" altLang="zh-TW" sz="3600" dirty="0"/>
              <a:t>-</a:t>
            </a:r>
            <a:r>
              <a:rPr lang="zh-TW" altLang="en-US" sz="3600" dirty="0"/>
              <a:t> </a:t>
            </a:r>
            <a:r>
              <a:rPr lang="en-US" altLang="zh-TW" sz="3600" dirty="0"/>
              <a:t>KOL</a:t>
            </a:r>
            <a:r>
              <a:rPr lang="zh-TW" altLang="en-US" sz="3600" dirty="0"/>
              <a:t> </a:t>
            </a:r>
            <a:r>
              <a:rPr lang="en-US" altLang="zh-TW" sz="3600" dirty="0"/>
              <a:t>Team</a:t>
            </a:r>
            <a:endParaRPr lang="zh-TW" altLang="en-US" sz="3600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50537E-51C6-A19C-75F9-7933242CF9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1558" y="3408362"/>
            <a:ext cx="4300565" cy="1300162"/>
          </a:xfrm>
        </p:spPr>
        <p:txBody>
          <a:bodyPr/>
          <a:lstStyle/>
          <a:p>
            <a:pPr marL="0" indent="0" algn="l">
              <a:buNone/>
            </a:pPr>
            <a:r>
              <a:rPr lang="zh-TW" altLang="en-US" dirty="0">
                <a:solidFill>
                  <a:schemeClr val="bg2">
                    <a:lumMod val="25000"/>
                  </a:schemeClr>
                </a:solidFill>
              </a:rPr>
              <a:t>此合作皆是透過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Line</a:t>
            </a:r>
            <a:r>
              <a:rPr lang="zh-TW" altLang="en-US" dirty="0">
                <a:solidFill>
                  <a:schemeClr val="bg2">
                    <a:lumMod val="25000"/>
                  </a:schemeClr>
                </a:solidFill>
              </a:rPr>
              <a:t>與經紀人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Addy</a:t>
            </a:r>
            <a:r>
              <a:rPr lang="zh-TW" altLang="en-US" dirty="0">
                <a:solidFill>
                  <a:schemeClr val="bg2">
                    <a:lumMod val="25000"/>
                  </a:schemeClr>
                </a:solidFill>
              </a:rPr>
              <a:t>溝通，若要信件往來會增加溝通時間，建議確認合作後加入經紀人</a:t>
            </a:r>
            <a:r>
              <a:rPr lang="en-US" altLang="zh-TW" dirty="0">
                <a:solidFill>
                  <a:schemeClr val="bg2">
                    <a:lumMod val="25000"/>
                  </a:schemeClr>
                </a:solidFill>
              </a:rPr>
              <a:t>Line</a:t>
            </a:r>
            <a:r>
              <a:rPr lang="zh-TW" altLang="en-US" dirty="0">
                <a:solidFill>
                  <a:schemeClr val="bg2">
                    <a:lumMod val="25000"/>
                  </a:schemeClr>
                </a:solidFill>
              </a:rPr>
              <a:t>進行後續聯絡，合作過程中順利且好溝通，不會拖稿，稿件品質也很不錯，未來若有機會可以再與此人合作。</a:t>
            </a:r>
            <a:endParaRPr lang="en-US" altLang="zh-TW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1D7E722-037B-EFD5-053B-AAF2824F97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746" r="61460" b="25940"/>
          <a:stretch/>
        </p:blipFill>
        <p:spPr>
          <a:xfrm>
            <a:off x="7085332" y="1663066"/>
            <a:ext cx="3531868" cy="35318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4929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500505"/>
      </p:ext>
    </p:extLst>
  </p:cSld>
  <p:clrMapOvr>
    <a:masterClrMapping/>
  </p:clrMapOvr>
</p:sld>
</file>

<file path=ppt/theme/theme1.xml><?xml version="1.0" encoding="utf-8"?>
<a:theme xmlns:a="http://schemas.openxmlformats.org/drawingml/2006/main" name="2024_DAC_temp_ne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4_DAC_Template" id="{9D17A544-99F9-6040-8DFD-CE7537B62BB2}" vid="{77BFBBFE-DE01-6748-946C-5C0C528310E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2024_DAC_temp_new</Template>
  <TotalTime>132</TotalTime>
  <Words>196</Words>
  <Application>Microsoft Office PowerPoint</Application>
  <PresentationFormat>寬螢幕</PresentationFormat>
  <Paragraphs>61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Arial</vt:lpstr>
      <vt:lpstr>Calibri</vt:lpstr>
      <vt:lpstr>2024_DAC_temp_new</vt:lpstr>
      <vt:lpstr>Panasonic電鬍刀_雙11檔期(ES-PV6A) </vt:lpstr>
      <vt:lpstr>KOC成效數據</vt:lpstr>
      <vt:lpstr>上刊截圖</vt:lpstr>
      <vt:lpstr>成效數據截圖-Reels</vt:lpstr>
      <vt:lpstr>成效數據截圖-限時動態</vt:lpstr>
      <vt:lpstr>成效總覽</vt:lpstr>
      <vt:lpstr>合作心得- KOL Team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標題測試用</dc:title>
  <dc:creator>Joy Wang</dc:creator>
  <cp:lastModifiedBy>Hailey Lai</cp:lastModifiedBy>
  <cp:revision>3</cp:revision>
  <dcterms:created xsi:type="dcterms:W3CDTF">2024-01-19T02:44:46Z</dcterms:created>
  <dcterms:modified xsi:type="dcterms:W3CDTF">2024-11-08T07:09:48Z</dcterms:modified>
</cp:coreProperties>
</file>